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828800"/>
            <a:ext cx="110578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4400" b="1">
                <a:solidFill>
                  <a:srgbClr val="0B0B0B"/>
                </a:solidFill>
                <a:latin typeface="Segoe UI"/>
              </a:rPr>
              <a:t>Drug Sentiment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2788920"/>
            <a:ext cx="1463040" cy="6350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54680"/>
            <a:ext cx="11057839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80000"/>
              </a:lnSpc>
              <a:spcAft>
                <a:spcPts val="600"/>
              </a:spcAft>
            </a:pPr>
            <a:r>
              <a:rPr sz="1700" b="0">
                <a:solidFill>
                  <a:srgbClr val="52514E"/>
                </a:solidFill>
                <a:latin typeface="Segoe UI"/>
              </a:rPr>
              <a:t>Predicting how a patient comment feels about one specific drug</a:t>
            </a:r>
          </a:p>
          <a:p>
            <a:pPr algn="l">
              <a:lnSpc>
                <a:spcPct val="180000"/>
              </a:lnSpc>
              <a:spcAft>
                <a:spcPts val="600"/>
              </a:spcAft>
            </a:pPr>
            <a:r>
              <a:rPr sz="1700" b="0">
                <a:solidFill>
                  <a:srgbClr val="52514E"/>
                </a:solidFill>
                <a:latin typeface="Segoe UI"/>
              </a:rPr>
              <a:t>LinearSVC on the sentences that mention the drug - weighted F1 0.735 out of fold</a:t>
            </a:r>
          </a:p>
          <a:p>
            <a:pPr algn="l">
              <a:lnSpc>
                <a:spcPct val="180000"/>
              </a:lnSpc>
              <a:spcAft>
                <a:spcPts val="600"/>
              </a:spcAft>
            </a:pPr>
            <a:r>
              <a:rPr sz="1700" b="0">
                <a:solidFill>
                  <a:srgbClr val="52514E"/>
                </a:solidFill>
                <a:latin typeface="Segoe UI"/>
              </a:rPr>
              <a:t>Analytics Vidhya Blackbelt capstone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Segoe UI"/>
              </a:rPr>
              <a:t>The task is not plain sentiment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24128"/>
            <a:ext cx="11057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Segoe UI"/>
              </a:rPr>
              <a:t>Each row asks about one drug, so the same comment can carry two different labels.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57839" cy="45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•  Input: a patient comment plus the name of one drug. Output: 0 positive, 1 negative, 2 neutral.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•  186 training rows share a comment with another drug — the text alone cannot decide the label.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•  Long comments bury the drug: in 6.9% of rows it first appears after word 380.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•  72.5% of rows are neutral, so accuracy is misleading; the metric is weighted F1.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•  Always answering 'neutral' scores 0.609 weighted F1 — the bar to beat.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29107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898781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Segoe UI"/>
              </a:rPr>
              <a:t>The data, and one finding about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24128"/>
            <a:ext cx="11057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Segoe UI"/>
              </a:rPr>
              <a:t>The brief's 5,619 / 3,107 are line counts; the files hold 5,279 train and 2,924 test records.</a:t>
            </a:r>
          </a:p>
        </p:txBody>
      </p:sp>
      <p:pic>
        <p:nvPicPr>
          <p:cNvPr id="4" name="Picture 3" descr="eda_01_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27632"/>
            <a:ext cx="6675120" cy="25972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07808" y="1627632"/>
            <a:ext cx="4016959" cy="45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•  Comments contain line breaks inside quoted CSV fields, which is why line counts differ from rows.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•  sample_submission has 2,924 ids in test order, confirming the record count.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•  No missing values, no duplicate ids, no conflicting labels for the same (comment, drug).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•  102 drugs in train, 95 in test, 9 of them unseen — mostly misspellings of known drugs.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29107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898781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Segoe UI"/>
              </a:rPr>
              <a:t>Why a window around the drug, not the whole comment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24128"/>
            <a:ext cx="11057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Segoe UI"/>
              </a:rPr>
              <a:t>Half the comments mention the drug early, but the tail is long: the drug can sit past word 380.</a:t>
            </a:r>
          </a:p>
        </p:txBody>
      </p:sp>
      <p:pic>
        <p:nvPicPr>
          <p:cNvPr id="4" name="Picture 3" descr="eda_05_first_mention_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27632"/>
            <a:ext cx="6675120" cy="31937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07808" y="1627632"/>
            <a:ext cx="4016959" cy="45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•  Median comment: 807 characters; the longest is 128k — package inserts and forum dumps.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•  Feeding the whole comment mixes in sentences about other drugs and other topics.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•  The model reads only the sentences that mention the drug, capped at 250 words - measured against wider windows and against the whole comment.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•  Ablation: the window is worth +0.011 weighted F1 over the drug-blind full comment.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29107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898781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Segoe UI"/>
              </a:rPr>
              <a:t>How each row is made about its own drug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24128"/>
            <a:ext cx="11057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Segoe UI"/>
              </a:rPr>
              <a:t>The target drug becomes `targetdrug`, every other known drug becomes `otherdrug`.</a:t>
            </a:r>
          </a:p>
        </p:txBody>
      </p:sp>
      <p:pic>
        <p:nvPicPr>
          <p:cNvPr id="4" name="Picture 3" descr="eda_03_sentiment_by_dru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27632"/>
            <a:ext cx="4498259" cy="45902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30947" y="1627632"/>
            <a:ext cx="6193820" cy="45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•  A lexicon of 102 train drug names plus a hand-written brand/generic synonym file.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•  rapidfuzz catches misspellings (stellara → stelara) so unseen test drugs still match.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•  Masking stops the model memorising drug names and forces it to read the sentiment words.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•  The drug identity is still available as a one-hot feature, so drug priors are learnable.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29107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898781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Segoe UI"/>
              </a:rPr>
              <a:t>The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24128"/>
            <a:ext cx="11057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Segoe UI"/>
              </a:rPr>
              <a:t>Row-wise preprocessing is cached; everything fitted on data lives inside the CV folds.</a:t>
            </a:r>
          </a:p>
        </p:txBody>
      </p:sp>
      <p:pic>
        <p:nvPicPr>
          <p:cNvPr id="4" name="Picture 3" descr="pipeline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27632"/>
            <a:ext cx="11057839" cy="42650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11535" y="629107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898781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Segoe UI"/>
              </a:rPr>
              <a:t>What the model sees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24128"/>
            <a:ext cx="11057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Segoe UI"/>
              </a:rPr>
              <a:t>Four feature blocks, all built from the drug window.</a:t>
            </a:r>
          </a:p>
        </p:txBody>
      </p:sp>
      <p:pic>
        <p:nvPicPr>
          <p:cNvPr id="4" name="Picture 3" descr="eval_03_top_wo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27632"/>
            <a:ext cx="6675120" cy="377272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07808" y="1627632"/>
            <a:ext cx="4016959" cy="45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•  TF-IDF: word 1–2-grams and character 2–5-grams (typo-tolerant), stop words minus negations.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•  Handcrafted: mention count and position, other drugs, lengths, negations, first-person words.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•  VADER: sentiment of the window, and the mean sentence score of the whole comment.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•  MiniLM: a 384-d frozen sentence embedding of the unmasked window.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•  48,988 features in total for the fitted 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29107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898781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Segoe UI"/>
              </a:rPr>
              <a:t>Validation that cannot flatter itself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24128"/>
            <a:ext cx="11057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Segoe UI"/>
              </a:rPr>
              <a:t>5 folds, stratified by label and grouped by comment text, fixed once and reused by every model.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57839" cy="45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•  88 comments appear with several drugs; grouping keeps them inside one fold, so no model can memorise a comment it will be scored on.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•  TF-IDF, SVD, scalers and the drug encoder are fitted inside each training fold only.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•  The preprocessed pickles hold row-wise values only — nothing learned from the labels.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•  test.csv is touched once, by the predict stage, to write the submission.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29107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898781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Segoe UI"/>
              </a:rPr>
              <a:t>Ten models, one honest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24128"/>
            <a:ext cx="11057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Segoe UI"/>
              </a:rPr>
              <a:t>Base settings, half the training data, identical folds. Linear models on sparse text win.</a:t>
            </a:r>
          </a:p>
        </p:txBody>
      </p:sp>
      <p:pic>
        <p:nvPicPr>
          <p:cNvPr id="4" name="Picture 3" descr="model_screening_hal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27632"/>
            <a:ext cx="6143221" cy="4590287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075909" y="1627632"/>
          <a:ext cx="4548858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6286"/>
                <a:gridCol w="1516286"/>
                <a:gridCol w="1516286"/>
              </a:tblGrid>
              <a:tr h="3291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Model</a:t>
                      </a:r>
                    </a:p>
                  </a:txBody>
                  <a:tcPr>
                    <a:solidFill>
                      <a:srgbClr val="4A3AA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Weighted F1</a:t>
                      </a:r>
                    </a:p>
                  </a:txBody>
                  <a:tcPr>
                    <a:solidFill>
                      <a:srgbClr val="4A3AA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Macro F1</a:t>
                      </a:r>
                    </a:p>
                  </a:txBody>
                  <a:tcPr>
                    <a:solidFill>
                      <a:srgbClr val="4A3AA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  <a:latin typeface="Segoe UI"/>
                        </a:rPr>
                        <a:t>LinearSVC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  <a:latin typeface="Segoe UI"/>
                        </a:rPr>
                        <a:t>0.721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  <a:latin typeface="Segoe UI"/>
                        </a:rPr>
                        <a:t>0.554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  <a:latin typeface="Segoe UI"/>
                        </a:rPr>
                        <a:t>XGBoost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  <a:latin typeface="Segoe UI"/>
                        </a:rPr>
                        <a:t>0.709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  <a:latin typeface="Segoe UI"/>
                        </a:rPr>
                        <a:t>0.490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  <a:latin typeface="Segoe UI"/>
                        </a:rPr>
                        <a:t>LogisticRegression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  <a:latin typeface="Segoe UI"/>
                        </a:rPr>
                        <a:t>0.702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  <a:latin typeface="Segoe UI"/>
                        </a:rPr>
                        <a:t>0.554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  <a:latin typeface="Segoe UI"/>
                        </a:rPr>
                        <a:t>GradientBoosting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  <a:latin typeface="Segoe UI"/>
                        </a:rPr>
                        <a:t>0.702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  <a:latin typeface="Segoe UI"/>
                        </a:rPr>
                        <a:t>0.533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  <a:latin typeface="Segoe UI"/>
                        </a:rPr>
                        <a:t>SVC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  <a:latin typeface="Segoe UI"/>
                        </a:rPr>
                        <a:t>0.700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  <a:latin typeface="Segoe UI"/>
                        </a:rPr>
                        <a:t>0.545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  <a:latin typeface="Segoe UI"/>
                        </a:rPr>
                        <a:t>LightGBM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  <a:latin typeface="Segoe UI"/>
                        </a:rPr>
                        <a:t>0.700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  <a:latin typeface="Segoe UI"/>
                        </a:rPr>
                        <a:t>0.471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911535" y="629107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898781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Segoe UI"/>
              </a:rPr>
              <a:t>Tuning the top 3, and why LinearSVC ships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24128"/>
            <a:ext cx="11057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Segoe UI"/>
              </a:rPr>
              <a:t>Optuna (TPE + median pruning) on the full training data, same folds, weighted F1 as the objective.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57839" cy="45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•  Tuned settings: C=0.05, class_weight=balanced, max_iter=20000.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•  Best weighted F1 and the best macro F1 of the three, so the small classes survive.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•  Lowest spread across folds, and seconds — not minutes — to refit.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•  A linear model on TF-IDF stays explainable: one weight per word.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3456432"/>
          <a:ext cx="11057839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1567"/>
                <a:gridCol w="2211567"/>
                <a:gridCol w="2211567"/>
                <a:gridCol w="2211567"/>
                <a:gridCol w="2211571"/>
              </a:tblGrid>
              <a:tr h="3291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Model</a:t>
                      </a:r>
                    </a:p>
                  </a:txBody>
                  <a:tcPr>
                    <a:solidFill>
                      <a:srgbClr val="4A3AA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Base F1</a:t>
                      </a:r>
                    </a:p>
                  </a:txBody>
                  <a:tcPr>
                    <a:solidFill>
                      <a:srgbClr val="4A3AA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Tuned F1</a:t>
                      </a:r>
                    </a:p>
                  </a:txBody>
                  <a:tcPr>
                    <a:solidFill>
                      <a:srgbClr val="4A3AA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Macro F1</a:t>
                      </a:r>
                    </a:p>
                  </a:txBody>
                  <a:tcPr>
                    <a:solidFill>
                      <a:srgbClr val="4A3AA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Fold std</a:t>
                      </a:r>
                    </a:p>
                  </a:txBody>
                  <a:tcPr>
                    <a:solidFill>
                      <a:srgbClr val="4A3AA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  <a:latin typeface="Segoe UI"/>
                        </a:rPr>
                        <a:t>LinearSVC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  <a:latin typeface="Segoe UI"/>
                        </a:rPr>
                        <a:t>0.725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  <a:latin typeface="Segoe UI"/>
                        </a:rPr>
                        <a:t>0.727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  <a:latin typeface="Segoe UI"/>
                        </a:rPr>
                        <a:t>0.572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  <a:latin typeface="Segoe UI"/>
                        </a:rPr>
                        <a:t>0.004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  <a:latin typeface="Segoe UI"/>
                        </a:rPr>
                        <a:t>XGBoost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  <a:latin typeface="Segoe UI"/>
                        </a:rPr>
                        <a:t>0.708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  <a:latin typeface="Segoe UI"/>
                        </a:rPr>
                        <a:t>0.715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  <a:latin typeface="Segoe UI"/>
                        </a:rPr>
                        <a:t>0.524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  <a:latin typeface="Segoe UI"/>
                        </a:rPr>
                        <a:t>0.009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  <a:latin typeface="Segoe UI"/>
                        </a:rPr>
                        <a:t>LogisticRegression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  <a:latin typeface="Segoe UI"/>
                        </a:rPr>
                        <a:t>0.697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  <a:latin typeface="Segoe UI"/>
                        </a:rPr>
                        <a:t>0.709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  <a:latin typeface="Segoe UI"/>
                        </a:rPr>
                        <a:t>0.553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  <a:latin typeface="Segoe UI"/>
                        </a:rPr>
                        <a:t>0.006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911535" y="629107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898781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Segoe U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24128"/>
            <a:ext cx="11057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Segoe UI"/>
              </a:rPr>
              <a:t>Weighted F1 0.735 out of fold, +0.126 over the majority-class baseline; macro F1 0.586.</a:t>
            </a:r>
          </a:p>
        </p:txBody>
      </p:sp>
      <p:pic>
        <p:nvPicPr>
          <p:cNvPr id="4" name="Picture 3" descr="eval_01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27632"/>
            <a:ext cx="5233911" cy="4590287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66599" y="1627632"/>
          <a:ext cx="5458168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1633"/>
                <a:gridCol w="1091633"/>
                <a:gridCol w="1091633"/>
                <a:gridCol w="1091633"/>
                <a:gridCol w="1091636"/>
              </a:tblGrid>
              <a:tr h="3291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Class</a:t>
                      </a:r>
                    </a:p>
                  </a:txBody>
                  <a:tcPr>
                    <a:solidFill>
                      <a:srgbClr val="4A3AA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Precision</a:t>
                      </a:r>
                    </a:p>
                  </a:txBody>
                  <a:tcPr>
                    <a:solidFill>
                      <a:srgbClr val="4A3AA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Recall</a:t>
                      </a:r>
                    </a:p>
                  </a:txBody>
                  <a:tcPr>
                    <a:solidFill>
                      <a:srgbClr val="4A3AA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F1</a:t>
                      </a:r>
                    </a:p>
                  </a:txBody>
                  <a:tcPr>
                    <a:solidFill>
                      <a:srgbClr val="4A3AA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Rows</a:t>
                      </a:r>
                    </a:p>
                  </a:txBody>
                  <a:tcPr>
                    <a:solidFill>
                      <a:srgbClr val="4A3AA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  <a:latin typeface="Segoe UI"/>
                        </a:rPr>
                        <a:t>positive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  <a:latin typeface="Segoe UI"/>
                        </a:rPr>
                        <a:t>0.429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  <a:latin typeface="Segoe UI"/>
                        </a:rPr>
                        <a:t>0.378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  <a:latin typeface="Segoe UI"/>
                        </a:rPr>
                        <a:t>0.402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  <a:latin typeface="Segoe UI"/>
                        </a:rPr>
                        <a:t>617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  <a:latin typeface="Segoe UI"/>
                        </a:rPr>
                        <a:t>negative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  <a:latin typeface="Segoe UI"/>
                        </a:rPr>
                        <a:t>0.528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  <a:latin typeface="Segoe UI"/>
                        </a:rPr>
                        <a:t>0.515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  <a:latin typeface="Segoe UI"/>
                        </a:rPr>
                        <a:t>0.521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  <a:latin typeface="Segoe UI"/>
                        </a:rPr>
                        <a:t>837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  <a:latin typeface="Segoe UI"/>
                        </a:rPr>
                        <a:t>neutral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  <a:latin typeface="Segoe UI"/>
                        </a:rPr>
                        <a:t>0.826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  <a:latin typeface="Segoe UI"/>
                        </a:rPr>
                        <a:t>0.846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  <a:latin typeface="Segoe UI"/>
                        </a:rPr>
                        <a:t>0.836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  <a:latin typeface="Segoe UI"/>
                        </a:rPr>
                        <a:t>3825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911535" y="629107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898781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Segoe UI"/>
              </a:rPr>
              <a:t>What each design decision is worth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24128"/>
            <a:ext cx="11057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Segoe UI"/>
              </a:rPr>
              <a:t>Same model, same folds, one decision changed at a time.</a:t>
            </a:r>
          </a:p>
        </p:txBody>
      </p:sp>
      <p:pic>
        <p:nvPicPr>
          <p:cNvPr id="4" name="Picture 3" descr="eval_04_abl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4237" y="1627632"/>
            <a:ext cx="6143221" cy="45902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11535" y="629107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898781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Segoe UI"/>
              </a:rPr>
              <a:t>Where it still fails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24128"/>
            <a:ext cx="11057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Segoe UI"/>
              </a:rPr>
              <a:t>The weakest group is “first drug mention: not found” at F1 0.514 on 12 rows.</a:t>
            </a:r>
          </a:p>
        </p:txBody>
      </p:sp>
      <p:pic>
        <p:nvPicPr>
          <p:cNvPr id="4" name="Picture 3" descr="eval_02_slice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27632"/>
            <a:ext cx="4776380" cy="45902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09068" y="1627632"/>
            <a:ext cx="5915699" cy="45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•  first drug mention — not found: F1 0.514 on 12 rows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•  how the drug name matched — none: F1 0.514 on 12 rows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•  first drug mention — first 10%: F1 0.651 on 1,090 rows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•  Neutral rows absorb most mistakes: the class is 72% of the data and its wording is the least marked.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•  Sarcasm and mixed reports ('worked but the rash was awful') stay hard for a bag-of-words 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29107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898781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Segoe UI"/>
              </a:rPr>
              <a:t>The submission, and how to rebuild everything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24128"/>
            <a:ext cx="11057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Segoe UI"/>
              </a:rPr>
              <a:t>predictions.csv: 2,924 rows, ids in test order, labels positive 9%, negative 15%, neutral 76%.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57839" cy="45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•  uv run python main.py all — ingest → preprocess → embed → train → evaluate → predict.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•  Fitting the final model on all 5,279 rows takes 16s on a laptop CPU; no GPU anywhere in the project.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•  Seed 42 everywhere; the model card records params, features, scores and the training time.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•  python -m drug_sentiment.inference.predict --drug ... --text ... scores a brand-new comment.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•  Re-run from the raw CSVs end to end, predictions.csv came back byte for byte identical.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29107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898781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Segoe UI"/>
              </a:rPr>
              <a:t>What I would do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24128"/>
            <a:ext cx="11057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Segoe UI"/>
              </a:rPr>
              <a:t>The ceiling here is the bag-of-words view of a medical comment.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57839" cy="45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•  Fine-tune a domain transformer (BioBERT / PubMedBERT) on the masked windows — needs a GPU.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•  Model the neutral class explicitly: many neutral rows are news or trial reports, not opinions.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•  Use the drug-level label prior as a proper target encoding fitted inside the folds.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•  Blend the linear model with XGBoost on the dense features; their errors differ.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•  Collect per-sentence labels so multi-drug comments can be scored sentence by sentence.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29107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898781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